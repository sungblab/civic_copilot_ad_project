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저희는 지역사회 생활민원 신고 문제를 AI로 해결하는 Civic Copilot을 제안합니다. 핵심은 새로운 신고 앱이 아니라 기존 신고 플랫폼 앞단에서 시민이 신고를 제대로 준비하도록 돕는 도메인 특화 AI 코파일럿입니다.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발표는 공감되는 장면에서 시작합니다. 생활불편은 자주 발견하지만, 막상 신고하려고 하면 어디에 신고할지, 어떤 증거가 필요한지, 문장을 어떻게 써야 할지 막힙니다. 이 접수 전 단계의 마찰이 저희가 해결하려는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문제를 네 가지 장벽으로 정의했습니다. 첫째, 신고 채널 혼란입니다. 둘째, 유형 선택 부담입니다. 셋째, 증거 요건 부족입니다. 넷째, 행정 문장을 쓰는 부담입니다. 그래서 문제 정의는 생활민원을 발견해도 신고 전 단계에서 막혀 신고를 포기하거나 부정확하게 접수한다는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시장조사를 해보니 사진과 위치를 기반으로 신고하는 서비스는 이미 있었습니다. 안전신문고와 서울스마트 불편신고가 대표적이고, 국민신문고와 AI 안전신문고도 AI를 활용하고 있습니다. 그래서 그대로 새 신고 앱을 만들면 중복입니다. 저희는 방향을 바꿔, 접수 플랫폼을 대체하지 않고 그 앞에서 신고를 준비해주는 코파일럿으로 잡았습니다.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Civic Copilot은 기존 서비스와 경쟁하는 것이 아니라 보완합니다. 기존 서비스가 공식 접수와 처리 결과 조회를 담당한다면, Civic Copilot은 그 전에 시민이 신고를 제대로 준비하도록 돕습니다. 핵심 문장은 안전신문고를 대체하지 않고 더 잘 쓰게 만드는 신고 전 AI 보조자입니다.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 흐름은 간단합니다. 시민이 문제를 발견하고 사진과 위치, 한 줄 설명을 입력합니다. AI는 민원 유형과 증거 요건을 확인하고, 적절한 신고 채널과 문장을 안내합니다. 마지막으로 사용자는 문장을 복사하거나 기존 앱으로 이동해 직접 제출합니다.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시스템 구조는 입력, AI 분석, 결과 출력으로 나눌 수 있습니다. 입력은 사진, 위치, 한 줄 설명입니다. AI 내부에서는 비전언어모델이 이미지를 분석하고, LLM이 문장을 생성하고, 도메인 규칙 DB가 증거 요건을 검증합니다. 최종 결과로 유형, 채널, 증거, 문장을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도메인 특화 AI라는 점이 중요합니다. 일반 챗봇처럼 모든 질문을 처리하는 것이 아니라, 생활민원 신고에 필요한 네 가지 기능으로 제한합니다. 사진을 이해하는 VLM, 민원 문장을 쓰는 LLM, 신고 요건을 찾는 RAG와 규칙 DB, 그리고 채널을 추천하는 라우터입니다.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예를 들어 막힌 빗물받이를 신고한다고 가정해보겠습니다. 사용자는 비 오면 물 고일 듯이라고만 입력합니다. AI는 사진과 위치를 보고 배수시설 문제로 분류하고, 안전신문고 또는 구청 채널을 추천합니다. 사진은 선명하지만 추가 사진을 권장하고, 바로 복사할 수 있는 민원 문장을 생성합니다.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구현 가능성도 검토했습니다. 모바일 카메라와 GPS, VLM과 LLM, 규칙 DB, 클라우드 서버, 기존 앱 연결로 구성할 수 있습니다. MVP는 자동 제출을 하지 않고 사진 분석, 증거 체크, 문장 생성, 기존 앱 연결까지만 구현하는 것이 안전합니다.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서비스에는 한계가 있습니다. 유형을 잘못 추천할 수 있고 개인정보가 포함될 수 있으며 허위 신고에 악용될 수도 있습니다. 그래서 추천 이유와 불확실성을 표시하고, 민감정보는 마스킹하고, 최종 제출은 사용자가 확인하게 합니다. 긴급 상황은 앱 안에서 상담하지 않고 112나 119를 먼저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기대효과는 시민, 행정, 지역사회 세 관점으로 볼 수 있습니다. 시민은 신고를 포기하지 않게 되고, 행정은 오분류와 증거 부족 민원을 줄일 수 있으며, 지역사회는 위험 요소를 더 빨리 발견할 수 있습니다. 결론은 Civic Copilot이 생활민원 신고라는 좁은 도메인에 특화된 AI로 기존 신고 플랫폼 앞단에서 신고 성공 가능성을 높인다는 것입니다.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0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소프트웨어프로젝트 I · AD 프로젝트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389888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2A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Civic Copilot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생활민원 신고 전 검증을 위한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도메인 특화 AI 코파일럿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3794760"/>
            <a:ext cx="5715000" cy="777240"/>
          </a:xfrm>
          <a:prstGeom prst="roundRect">
            <a:avLst>
              <a:gd name="adj" fmla="val 14118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913632"/>
            <a:ext cx="5422392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핵심: 기존 신고 플랫폼을 대체하지 않고, 신고 전 단계에서 AI가 검토·작성·라우팅을 돕는다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09560" y="1024128"/>
            <a:ext cx="3611880" cy="4526280"/>
          </a:xfrm>
          <a:prstGeom prst="roundRect">
            <a:avLst>
              <a:gd name="adj" fmla="val 3038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55864" y="1143000"/>
            <a:ext cx="3319272" cy="4288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사진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위치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 줄 설명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유형 · 채널 · 증거 · 문장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" y="580644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팀명: ____________   조원: ____________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644652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5196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Civic Copilot AD Project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18520" y="6519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소프트웨어프로젝트 I · AD 프로젝트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발견했지만 신고하지 않는 순간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533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누구나 한 번쯤 겪는 생활민원 신고의 시작점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FF7ED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3544" y="2176272"/>
            <a:ext cx="2999232" cy="2871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“길가에 쓰레기가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쌓여 있는데...”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어디에 신고하지?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434840" y="20574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EF2F2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81144" y="2176272"/>
            <a:ext cx="2999232" cy="2871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“차가 보도를 막는데...”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사진은 몇 장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찍어야 하지?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092440" y="20574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38744" y="2176272"/>
            <a:ext cx="2999232" cy="2871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“가로등이 고장났는데...”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문장은 어떻게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써야 하지?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55321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문제는 “신고 플랫폼이 아예 없다”가 아니라, 시민이 제출 전에 너무 많은 것을 판단해야 한다는 점이다.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644652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5196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Civic Copilot AD Project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749040" y="65196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AD 발표 팁: 누구나 겪는 불편으로 동기 제시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11018520" y="6519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소프트웨어프로젝트 I · AD 프로젝트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 정의: 신고 전 단계의 4가지 장벽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533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지역사회 문제는 발견되지만, 정확한 신고로 이어지지 못한다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395728" cy="2423160"/>
          </a:xfrm>
          <a:prstGeom prst="roundRect">
            <a:avLst>
              <a:gd name="adj" fmla="val 4580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2039112"/>
            <a:ext cx="2103120" cy="2185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채널 혼란</a:t>
            </a:r>
            <a:endParaRPr lang="en-US" sz="1450" dirty="0"/>
          </a:p>
          <a:p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안전신문고? 구청? 120?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112/119?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593592" y="1920240"/>
            <a:ext cx="2395728" cy="2423160"/>
          </a:xfrm>
          <a:prstGeom prst="roundRect">
            <a:avLst>
              <a:gd name="adj" fmla="val 4580"/>
            </a:avLst>
          </a:prstGeom>
          <a:solidFill>
            <a:srgbClr val="ECFDF5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9896" y="2039112"/>
            <a:ext cx="2103120" cy="2185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유형 선택 부담</a:t>
            </a:r>
            <a:endParaRPr lang="en-US" sz="1450" dirty="0"/>
          </a:p>
          <a:p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쓰레기, 도로, 시설물,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교통위반 구분 어려움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9944" y="1920240"/>
            <a:ext cx="2395728" cy="2423160"/>
          </a:xfrm>
          <a:prstGeom prst="roundRect">
            <a:avLst>
              <a:gd name="adj" fmla="val 4580"/>
            </a:avLst>
          </a:prstGeom>
          <a:solidFill>
            <a:srgbClr val="FFF7ED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2039112"/>
            <a:ext cx="2103120" cy="2185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증거 요건 부족</a:t>
            </a:r>
            <a:endParaRPr lang="en-US" sz="1450" dirty="0"/>
          </a:p>
          <a:p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사진 각도·간격·번호판·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위치 정보 누락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226296" y="1920240"/>
            <a:ext cx="2395728" cy="2423160"/>
          </a:xfrm>
          <a:prstGeom prst="roundRect">
            <a:avLst>
              <a:gd name="adj" fmla="val 4580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72600" y="2039112"/>
            <a:ext cx="2103120" cy="2185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문장 작성 부담</a:t>
            </a:r>
            <a:endParaRPr lang="en-US" sz="1450" dirty="0"/>
          </a:p>
          <a:p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짧은 설명을 행정 문장으로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바꾸기 어려움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188720" y="4983480"/>
            <a:ext cx="9784080" cy="658368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5024" y="5102352"/>
            <a:ext cx="94914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문제 문장: 생활민원을 발견한 시민이 신고 절차·증거 요건·신고 채널·작성 방법을 몰라 신고를 포기하거나 부정확하게 접수한다.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594360" y="644652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5196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Civic Copilot AD Project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018520" y="6519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소프트웨어프로젝트 I · AD 프로젝트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시장조사: 이미 “접수 플랫폼”은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533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따라서 차별화는 접수 이후가 아니라 접수 이전에 있다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61320" cy="3182112"/>
          </a:xfrm>
          <a:prstGeom prst="roundRect">
            <a:avLst>
              <a:gd name="adj" fmla="val 2874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039112"/>
            <a:ext cx="2331720" cy="347472"/>
          </a:xfrm>
          <a:prstGeom prst="roundRect">
            <a:avLst>
              <a:gd name="adj" fmla="val 42105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9576" y="2121408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안전신문고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20574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사진/동영상 + 위치 + 신고내용으로 안전·생활불편 신고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1005840" y="2569464"/>
            <a:ext cx="9966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752344"/>
            <a:ext cx="2331720" cy="347472"/>
          </a:xfrm>
          <a:prstGeom prst="roundRect">
            <a:avLst>
              <a:gd name="adj" fmla="val 42105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9576" y="2834640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서울스마트 불편신고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277063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불법주정차·쓰레기·보도블록·가로등·소음 등 신고, 120 접수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1005840" y="3282696"/>
            <a:ext cx="9966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3465576"/>
            <a:ext cx="2331720" cy="347472"/>
          </a:xfrm>
          <a:prstGeom prst="roundRect">
            <a:avLst>
              <a:gd name="adj" fmla="val 42105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9576" y="3547872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국민신문고 AI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34838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민원 답변 추천, 빈발·중복 민원 처리, 민원분석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1005840" y="3995928"/>
            <a:ext cx="9966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178808"/>
            <a:ext cx="2331720" cy="347472"/>
          </a:xfrm>
          <a:prstGeom prst="roundRect">
            <a:avLst>
              <a:gd name="adj" fmla="val 42105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9576" y="4261104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안전신문고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419709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사진·영상 기반 신고 분류와 담당 부서 이관 자동화 추진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914400" y="5440680"/>
            <a:ext cx="10378440" cy="6858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5559552"/>
            <a:ext cx="1008583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결론: “새 신고 앱”은 중복 가능성이 높다. → 기존 플랫폼 앞단의 신고 전 AI 코파일럿으로 방향 전환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94360" y="644652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65196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Civic Copilot AD Project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49040" y="65196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출처: 안전신문고/서울시/120다산콜재단/국민권익위/LG-KETI 공개자료</a:t>
            </a:r>
            <a:endParaRPr lang="en-US" sz="640" dirty="0"/>
          </a:p>
        </p:txBody>
      </p:sp>
      <p:sp>
        <p:nvSpPr>
          <p:cNvPr id="26" name="Text 24"/>
          <p:cNvSpPr/>
          <p:nvPr/>
        </p:nvSpPr>
        <p:spPr>
          <a:xfrm>
            <a:off x="11018520" y="6519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소프트웨어프로젝트 I · AD 프로젝트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제안: Civic Copilot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533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생활민원 신고 도메인에 특화된 AI agent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749040" cy="3474720"/>
          </a:xfrm>
          <a:prstGeom prst="roundRect">
            <a:avLst>
              <a:gd name="adj" fmla="val 3158"/>
            </a:avLst>
          </a:prstGeom>
          <a:solidFill>
            <a:srgbClr val="F3F4F6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993392"/>
            <a:ext cx="3456432" cy="3236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기존 서비스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공식 접수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처리 결과 조회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행정기관 이관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09160" y="361188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806440" y="160020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52744" y="1719072"/>
            <a:ext cx="4919472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Civic Copilot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신고 전 검증 · 작성 · 라우팅</a:t>
            </a:r>
            <a:endParaRPr lang="en-US" sz="1900" dirty="0"/>
          </a:p>
          <a:p>
            <a:pPr algn="ctr" indent="0" marL="0">
              <a:buNone/>
            </a:pP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사진과 위치를 보고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민원 유형, 신고 채널, 증거 요건,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신고 문장을 제안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5897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 줄 정의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587044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“안전신문고를 대체하지 않고, 안전신문고를 더 잘 쓰게 만드는 신고 전 AI 보조자”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644652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5196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Civic Copilot AD Project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18520" y="6519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소프트웨어프로젝트 I · AD 프로젝트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여정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533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신고 포기 구간을 줄이는 흐름</a:t>
            </a:r>
            <a:endParaRPr lang="en-US" sz="1250" dirty="0"/>
          </a:p>
        </p:txBody>
      </p:sp>
      <p:pic>
        <p:nvPicPr>
          <p:cNvPr id="5" name="Image 0" descr="/mnt/data/civic_copilot_assets/user_flo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108813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644652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65196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Civic Copilot AD Project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018520" y="6519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소프트웨어프로젝트 I · AD 프로젝트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AI/SW 시스템 개념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533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사진·위치·도메인 규칙·문장 생성을 조합한 구조</a:t>
            </a:r>
            <a:endParaRPr lang="en-US" sz="1250" dirty="0"/>
          </a:p>
        </p:txBody>
      </p:sp>
      <p:pic>
        <p:nvPicPr>
          <p:cNvPr id="5" name="Image 0" descr="/mnt/data/civic_copilot_assets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27632"/>
            <a:ext cx="1092708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644652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65196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Civic Copilot AD Project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018520" y="6519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소프트웨어프로젝트 I · AD 프로젝트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Domain-specific AI 설계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533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범용 챗봇이 아니라 생활민원 신고 흐름에 맞춘 AI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4800600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947672"/>
            <a:ext cx="4507992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VLM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사진 속 위험 요소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번호판/표지판/시설물 식별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4800600" cy="13716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47104" y="1947672"/>
            <a:ext cx="4507992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LLM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쉬운 설명 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공식 민원 문장 생성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3886200"/>
            <a:ext cx="4800600" cy="13716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4005072"/>
            <a:ext cx="4507992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RAG/규칙 DB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지자체별 신고 요건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불법주정차·시설물 규칙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3886200"/>
            <a:ext cx="4800600" cy="13716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7104" y="4005072"/>
            <a:ext cx="4507992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Channel Router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안전신문고·구청·120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112/119 우선 안내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20240" y="5715000"/>
            <a:ext cx="8412480" cy="438912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5833872"/>
            <a:ext cx="81198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도메인 특화의 의미: 생활민원 유형, 증거 요건, 신고 채널, 긴급도 기준을 AI의 업무 범위로 제한한다.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594360" y="644652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5196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Civic Copilot AD Project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018520" y="6519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소프트웨어프로젝트 I · AD 프로젝트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예시 시나리오: 막힌 빗물받이 신고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533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사용자는 한 줄만 써도 AI가 접수 가능한 문장으로 바꾼다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3154680" cy="393192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947672"/>
            <a:ext cx="2862072" cy="3694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입력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사진: 빗물받이 주변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위치: OO구 OO로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설명: “비오면 물 고일듯”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0" y="3703320"/>
            <a:ext cx="10058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49240" y="1508760"/>
            <a:ext cx="5989320" cy="1005840"/>
          </a:xfrm>
          <a:prstGeom prst="roundRect">
            <a:avLst>
              <a:gd name="adj" fmla="val 10909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95544" y="1627632"/>
            <a:ext cx="569671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분석 결과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349240" y="269748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ECFDF5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95544" y="2816352"/>
            <a:ext cx="254203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유형: 배수시설/안전 위험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채널: 안전신문고 또는 구청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58200" y="2697480"/>
            <a:ext cx="2880360" cy="1005840"/>
          </a:xfrm>
          <a:prstGeom prst="roundRect">
            <a:avLst>
              <a:gd name="adj" fmla="val 10909"/>
            </a:avLst>
          </a:prstGeom>
          <a:solidFill>
            <a:srgbClr val="FFF7ED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04504" y="2816352"/>
            <a:ext cx="2587752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증거: 위치 있음, 사진 선명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추가 사진 1장 권장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5349240" y="4069080"/>
            <a:ext cx="5989320" cy="1389888"/>
          </a:xfrm>
          <a:prstGeom prst="roundRect">
            <a:avLst>
              <a:gd name="adj" fmla="val 7895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95544" y="4187952"/>
            <a:ext cx="5696712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작성 문장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“OO구 OO로 인근 빗물받이가 낙엽과 쓰레기로 막혀 우천 시 침수 위험이 있어 정비가 필요합니다.”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594360" y="644652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65196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Civic Copilot AD Project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018520" y="6519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소프트웨어프로젝트 I · AD 프로젝트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구현 가능성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533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실제 구현은 선택 사항이지만, 필요한 기술은 현재 수준에서 실현 가능하다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084832"/>
            <a:ext cx="1673352" cy="2048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Mobile</a:t>
            </a:r>
            <a:endParaRPr lang="en-US" sz="1320" dirty="0"/>
          </a:p>
          <a:p>
            <a:pPr algn="ctr" indent="0" marL="0">
              <a:buNone/>
            </a:pP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카메라 · GPS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사진 업로드 · 위치 확인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2999232" y="196596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ECFDF5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45536" y="2084832"/>
            <a:ext cx="1673352" cy="2048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</a:t>
            </a:r>
            <a:endParaRPr lang="en-US" sz="1320" dirty="0"/>
          </a:p>
          <a:p>
            <a:pPr algn="ctr" indent="0" marL="0">
              <a:buNone/>
            </a:pP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VLM · LLM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분류 · 문장 생성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5266944" y="196596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3248" y="2084832"/>
            <a:ext cx="1673352" cy="2048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Rules</a:t>
            </a:r>
            <a:endParaRPr lang="en-US" sz="1320" dirty="0"/>
          </a:p>
          <a:p>
            <a:pPr algn="ctr" indent="0" marL="0">
              <a:buNone/>
            </a:pP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신고 요건 DB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지역/유형별 규칙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7534656" y="196596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ECFDF5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2084832"/>
            <a:ext cx="1673352" cy="2048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Cloud</a:t>
            </a:r>
            <a:endParaRPr lang="en-US" sz="1320" dirty="0"/>
          </a:p>
          <a:p>
            <a:pPr algn="ctr" indent="0" marL="0">
              <a:buNone/>
            </a:pP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서버 · DB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중복 후보 · 결과 저장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9802368" y="196596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48672" y="2084832"/>
            <a:ext cx="1673352" cy="2048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Integration</a:t>
            </a:r>
            <a:endParaRPr lang="en-US" sz="1320" dirty="0"/>
          </a:p>
          <a:p>
            <a:pPr algn="ctr" indent="0" marL="0">
              <a:buNone/>
            </a:pP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기존 신고 앱/웹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복사 · 이동 · 제출 준비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1051560" y="5047488"/>
            <a:ext cx="10012680" cy="6858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7864" y="5166360"/>
            <a:ext cx="972007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MVP 범위: 자동 제출은 제외하고, “사진 분석 → 증거 체크 → 신고 문장 생성 → 기존 앱 연결”까지 구현한다.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4360" y="644652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65196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Civic Copilot AD Project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749040" y="65196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AD 요구: 구현하지 않더라도 구현 가능성 검토</a:t>
            </a:r>
            <a:endParaRPr lang="en-US" sz="640" dirty="0"/>
          </a:p>
        </p:txBody>
      </p:sp>
      <p:sp>
        <p:nvSpPr>
          <p:cNvPr id="20" name="Text 18"/>
          <p:cNvSpPr/>
          <p:nvPr/>
        </p:nvSpPr>
        <p:spPr>
          <a:xfrm>
            <a:off x="11018520" y="6519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소프트웨어프로젝트 I · AD 프로젝트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한계와 안전장치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533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민원을 대신 판단하는 것이 아니라, 사용자가 제출 전 확인하도록 돕는다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4800600" cy="1325880"/>
          </a:xfrm>
          <a:prstGeom prst="roundRect">
            <a:avLst>
              <a:gd name="adj" fmla="val 8276"/>
            </a:avLst>
          </a:prstGeom>
          <a:solidFill>
            <a:srgbClr val="FEF2F2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993392"/>
            <a:ext cx="450799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오판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추천 이유와 불확실성 표시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제출은 사용자 확인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1874520"/>
            <a:ext cx="4800600" cy="1325880"/>
          </a:xfrm>
          <a:prstGeom prst="roundRect">
            <a:avLst>
              <a:gd name="adj" fmla="val 8276"/>
            </a:avLst>
          </a:prstGeom>
          <a:solidFill>
            <a:srgbClr val="F3F4F6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47104" y="1993392"/>
            <a:ext cx="450799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개인정보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얼굴/차량번호/주소 마스킹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최소 보관 원칙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840480"/>
            <a:ext cx="4800600" cy="1325880"/>
          </a:xfrm>
          <a:prstGeom prst="roundRect">
            <a:avLst>
              <a:gd name="adj" fmla="val 8276"/>
            </a:avLst>
          </a:prstGeom>
          <a:solidFill>
            <a:srgbClr val="FEF2F2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3959352"/>
            <a:ext cx="450799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허위·악성 신고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허위 신고 경고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이상 패턴 탐지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3840480"/>
            <a:ext cx="4800600" cy="1325880"/>
          </a:xfrm>
          <a:prstGeom prst="roundRect">
            <a:avLst>
              <a:gd name="adj" fmla="val 8276"/>
            </a:avLst>
          </a:prstGeom>
          <a:solidFill>
            <a:srgbClr val="F3F4F6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7104" y="3959352"/>
            <a:ext cx="4507992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긴급 상황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화재·범죄·인명 위험은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즉시 112/119 안내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559612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원칙: AI는 “공식 판단자”가 아니라 “신고 전 코치”이다.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644652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5196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Civic Copilot AD Project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018520" y="6519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소프트웨어프로젝트 I · AD 프로젝트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기대효과와 결론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3533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아이디어 하나를 명확히 전달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EAF2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993392"/>
            <a:ext cx="2953512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시민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신고 포기 감소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문장 작성 부담 감소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34840" y="187452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ECFDF5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1144" y="1993392"/>
            <a:ext cx="2953512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행정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오분류 감소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증거 부족 민원 감소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01000" y="187452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FF7ED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47304" y="1993392"/>
            <a:ext cx="2953512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지역사회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위험요소 조기 발견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생활환경 개선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51560" y="4617720"/>
            <a:ext cx="10149840" cy="868680"/>
          </a:xfrm>
          <a:prstGeom prst="roundRect">
            <a:avLst>
              <a:gd name="adj" fmla="val 12632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7864" y="4736592"/>
            <a:ext cx="985723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결론: Civic Copilot은 생활민원 신고라는 좁은 도메인에 특화된 AI로, 기존 신고 플랫폼 앞단에서 시민의 신고 성공 가능성을 높인다.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77240" y="601675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참고: AD 프로젝트 소개 강의자료, 안전신문고/서울스마트 불편신고/국민신문고 AI/AI 안전신문고 공개자료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594360" y="644652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5196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Civic Copilot AD Project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018520" y="6519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KMU Software Project 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 Copilot</dc:title>
  <dc:subject>소프트웨어프로젝트 I AD 프로젝트 발표자료</dc:subject>
  <dc:creator>Civic Copilot AD Project</dc:creator>
  <cp:lastModifiedBy>Civic Copilot AD Project</cp:lastModifiedBy>
  <cp:revision>1</cp:revision>
  <dcterms:created xsi:type="dcterms:W3CDTF">2026-05-04T06:44:16Z</dcterms:created>
  <dcterms:modified xsi:type="dcterms:W3CDTF">2026-05-04T06:44:16Z</dcterms:modified>
</cp:coreProperties>
</file>